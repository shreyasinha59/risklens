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Exposure ($M)</c:v>
                </c:pt>
              </c:strCache>
            </c:strRef>
          </c:tx>
          <c:spPr>
            <a:solidFill>
              <a:srgbClr val="4FBFB3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Corp Bond</c:v>
                </c:pt>
                <c:pt idx="1">
                  <c:v>Govt Bond</c:v>
                </c:pt>
                <c:pt idx="2">
                  <c:v>FX</c:v>
                </c:pt>
                <c:pt idx="3">
                  <c:v>Equity</c:v>
                </c:pt>
                <c:pt idx="4">
                  <c:v>Equity Option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</c:v>
                </c:pt>
                <c:pt idx="1">
                  <c:v>44.2</c:v>
                </c:pt>
                <c:pt idx="2">
                  <c:v>31.3</c:v>
                </c:pt>
                <c:pt idx="3">
                  <c:v>3.0</c:v>
                </c:pt>
                <c:pt idx="4">
                  <c:v>1.3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sz="1000">
                  <a:solidFill>
                    <a:srgbClr val="E7EBF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VaR</c:v>
                </c:pt>
              </c:strCache>
            </c:strRef>
          </c:tx>
          <c:spPr>
            <a:solidFill>
              <a:srgbClr val="4FBFB3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95% Confidence</c:v>
                </c:pt>
                <c:pt idx="1">
                  <c:v>99% Confidence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324746</c:v>
                </c:pt>
                <c:pt idx="1">
                  <c:v>559377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Parametric VaR</c:v>
                </c:pt>
              </c:strCache>
            </c:strRef>
          </c:tx>
          <c:spPr>
            <a:solidFill>
              <a:srgbClr val="3A8C8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95% Confidence</c:v>
                </c:pt>
                <c:pt idx="1">
                  <c:v>99% Confidence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331149</c:v>
                </c:pt>
                <c:pt idx="1">
                  <c:v>470185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Expected Shortfall</c:v>
                </c:pt>
              </c:strCache>
            </c:strRef>
          </c:tx>
          <c:spPr>
            <a:solidFill>
              <a:srgbClr val="2A555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95% Confidence</c:v>
                </c:pt>
                <c:pt idx="1">
                  <c:v>99% Confidence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462939</c:v>
                </c:pt>
                <c:pt idx="1">
                  <c:v>666674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#,##0" sourceLinked="0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8D97A5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P&amp;L ($)</c:v>
                </c:pt>
              </c:strCache>
            </c:strRef>
          </c:tx>
          <c:dPt>
            <c:idx val="0"/>
            <c:spPr>
              <a:solidFill>
                <a:srgbClr val="4CAF6D"/>
              </a:solidFill>
              <a:ln>
                <a:noFill/>
              </a:ln>
            </c:spPr>
          </c:dPt>
          <c:dPt>
            <c:idx val="1"/>
            <c:spPr>
              <a:solidFill>
                <a:srgbClr val="4CAF6D"/>
              </a:solidFill>
              <a:ln>
                <a:noFill/>
              </a:ln>
            </c:spPr>
          </c:dPt>
          <c:dPt>
            <c:idx val="2"/>
            <c:spPr>
              <a:solidFill>
                <a:srgbClr val="E0584F"/>
              </a:solidFill>
              <a:ln>
                <a:noFill/>
              </a:ln>
            </c:spPr>
          </c:dPt>
          <c:dPt>
            <c:idx val="3"/>
            <c:spPr>
              <a:solidFill>
                <a:srgbClr val="E0584F"/>
              </a:solidFill>
              <a:ln>
                <a:noFill/>
              </a:ln>
            </c:spPr>
          </c:dPt>
          <c:dPt>
            <c:idx val="4"/>
            <c:spPr>
              <a:solidFill>
                <a:srgbClr val="4CAF6D"/>
              </a:solidFill>
              <a:ln>
                <a:noFill/>
              </a:ln>
            </c:spPr>
          </c:dPt>
          <c:dPt>
            <c:idx val="5"/>
            <c:spPr>
              <a:solidFill>
                <a:srgbClr val="E0584F"/>
              </a:solidFill>
              <a:ln>
                <a:noFill/>
              </a:ln>
            </c:spPr>
          </c:dPt>
          <c:dPt>
            <c:idx val="6"/>
            <c:spPr>
              <a:solidFill>
                <a:srgbClr val="E0584F"/>
              </a:solidFill>
              <a:ln>
                <a:noFill/>
              </a:ln>
            </c:spPr>
          </c:dPt>
          <c:dPt>
            <c:idx val="7"/>
            <c:spPr>
              <a:solidFill>
                <a:srgbClr val="4FBFB3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Delta</c:v>
                </c:pt>
                <c:pt idx="1">
                  <c:v>Gamma</c:v>
                </c:pt>
                <c:pt idx="2">
                  <c:v>Vega</c:v>
                </c:pt>
                <c:pt idx="3">
                  <c:v>Rates</c:v>
                </c:pt>
                <c:pt idx="4">
                  <c:v>Credit</c:v>
                </c:pt>
                <c:pt idx="5">
                  <c:v>FX</c:v>
                </c:pt>
                <c:pt idx="6">
                  <c:v>Residual</c:v>
                </c:pt>
                <c:pt idx="7">
                  <c:v>Actual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37493</c:v>
                </c:pt>
                <c:pt idx="1">
                  <c:v>268</c:v>
                </c:pt>
                <c:pt idx="2">
                  <c:v>-5606</c:v>
                </c:pt>
                <c:pt idx="3">
                  <c:v>-246231</c:v>
                </c:pt>
                <c:pt idx="4">
                  <c:v>21389</c:v>
                </c:pt>
                <c:pt idx="5">
                  <c:v>-20900</c:v>
                </c:pt>
                <c:pt idx="6">
                  <c:v>-605945</c:v>
                </c:pt>
                <c:pt idx="7">
                  <c:v>-819533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900">
                  <a:solidFill>
                    <a:srgbClr val="E7EBF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Stress P&amp;L ($M)</c:v>
                </c:pt>
              </c:strCache>
            </c:strRef>
          </c:tx>
          <c:dPt>
            <c:idx val="0"/>
            <c:spPr>
              <a:solidFill>
                <a:srgbClr val="3A8C84"/>
              </a:solidFill>
              <a:ln>
                <a:noFill/>
              </a:ln>
            </c:spPr>
          </c:dPt>
          <c:dPt>
            <c:idx val="1"/>
            <c:spPr>
              <a:solidFill>
                <a:srgbClr val="3A8C84"/>
              </a:solidFill>
              <a:ln>
                <a:noFill/>
              </a:ln>
            </c:spPr>
          </c:dPt>
          <c:dPt>
            <c:idx val="2"/>
            <c:spPr>
              <a:solidFill>
                <a:srgbClr val="3A8C84"/>
              </a:solidFill>
              <a:ln>
                <a:noFill/>
              </a:ln>
            </c:spPr>
          </c:dPt>
          <c:dPt>
            <c:idx val="3"/>
            <c:spPr>
              <a:solidFill>
                <a:srgbClr val="E0584F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Equity Selloff</c:v>
                </c:pt>
                <c:pt idx="1">
                  <c:v>Rapid Rate Increase</c:v>
                </c:pt>
                <c:pt idx="2">
                  <c:v>Credit Spread Widening</c:v>
                </c:pt>
                <c:pt idx="3">
                  <c:v>Combined Severe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-0.97</c:v>
                </c:pt>
                <c:pt idx="1">
                  <c:v>-5.23</c:v>
                </c:pt>
                <c:pt idx="2">
                  <c:v>-2.07</c:v>
                </c:pt>
                <c:pt idx="3">
                  <c:v>-9.29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sz="1000">
                  <a:solidFill>
                    <a:srgbClr val="E7EBF0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solidFill>
              <a:srgbClr val="2A3542"/>
            </a:solidFill>
          </a:ln>
        </c:spPr>
        <c:txPr>
          <a:bodyPr/>
          <a:lstStyle/>
          <a:p>
            <a:pPr>
              <a:defRPr sz="1000">
                <a:solidFill>
                  <a:srgbClr val="8D97A5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built this to demonstrate the full loop a market risk BA/analyst actually works in - not just 'I can calculate VaR,' but requirements gathering through to a controls-audited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API decouples the calculation layer from the dashboard - one contract, multiple consumers. A structural failure (validation, valuation) halts the run; a breach or failed control does not halt - it's persisted as a flag so it's visible,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'interesting' result later in the project - the breach, the top stress contributors - traces back to a design decision made in the very first module. Randomizing the book would have made the later demonstrations arbitrary rather than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99% divergence isn't noise - it's the textbook signature of a normal distribution underestimating real tail risk. I can walk through the exact worst historical day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didn't cherry-pick a clean day for this example - I used whatever the most recent real scenario was, and then explained honestly why the residual was large: bond convexity is a stated, deliberate scope decision,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 the whole project ties together - Module 1's design decision becomes Module 7's breach becomes a defensible investigation conclusion, checked against data quality and market drivers before accepting it as genuine.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I'd rather show you the controls with no pytest coverage than pretend they don't exist - that gap analysis is itself a BA deliverable, in docs/BA_Documentation_Pack.docx.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test-coverage gaps from Slide 7 first, then add bond convexity - I already know exactly where the residual comes from, so that's a bounded, well-understood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E7EBF0"/>
                </a:solidFill>
                <a:latin typeface="Georgia"/>
              </a:rPr>
              <a:t>RiskLens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4FBFB3"/>
                </a:solidFill>
                <a:latin typeface="Calibri"/>
              </a:rPr>
              <a:t>Trading Book Risk &amp; Controls — Interview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A self-directed, end-to-end market risk analytics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26280"/>
            <a:ext cx="1280160" cy="38100"/>
          </a:xfrm>
          <a:prstGeom prst="rect">
            <a:avLst/>
          </a:prstGeom>
          <a:solidFill>
            <a:srgbClr val="4F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01 / 08  — 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Risk reporting, scattered across five inboxes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A trading desk needs one answer to six questions — value, VaR, drivers, P&amp;L, stress, limits. Most environments answer it with disconnected spreadsheets instead of one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6766560" cy="356616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774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D97A5"/>
                </a:solidFill>
                <a:latin typeface="Consolas"/>
              </a:rPr>
              <a:t>AS-IS →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2834640" cy="384048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D97A5"/>
                </a:solidFill>
                <a:latin typeface="Consolas"/>
              </a:rPr>
              <a:t>equities_book_v4_FINAL.xlsx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64408"/>
            <a:ext cx="2834640" cy="384048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D97A5"/>
                </a:solidFill>
                <a:latin typeface="Consolas"/>
              </a:rPr>
              <a:t>rates_var_thu.xlsx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31336"/>
            <a:ext cx="2834640" cy="384048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D97A5"/>
                </a:solidFill>
                <a:latin typeface="Consolas"/>
              </a:rPr>
              <a:t>Re: Re: JPM exposure??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98264"/>
            <a:ext cx="2834640" cy="384048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D97A5"/>
                </a:solidFill>
                <a:latin typeface="Consolas"/>
              </a:rPr>
              <a:t>Friday_Risk_Pack.pdf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3749039"/>
            <a:ext cx="640080" cy="457200"/>
          </a:xfrm>
          <a:prstGeom prst="rightArrow">
            <a:avLst/>
          </a:prstGeom>
          <a:solidFill>
            <a:srgbClr val="4F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3429000"/>
            <a:ext cx="2194560" cy="1005840"/>
          </a:xfrm>
          <a:prstGeom prst="roundRect">
            <a:avLst/>
          </a:prstGeom>
          <a:solidFill>
            <a:srgbClr val="275550"/>
          </a:solidFill>
          <a:ln>
            <a:solidFill>
              <a:srgbClr val="4F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7EBF0"/>
                </a:solidFill>
                <a:latin typeface="Georgia"/>
              </a:rPr>
              <a:t>RiskLens</a:t>
            </a:r>
          </a:p>
          <a:p>
            <a:pPr algn="ctr"/>
            <a:r>
              <a:rPr sz="850">
                <a:solidFill>
                  <a:srgbClr val="8D97A5"/>
                </a:solidFill>
                <a:latin typeface="Consolas"/>
              </a:rPr>
              <a:t>ONE PIPELINE · ONE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77440"/>
            <a:ext cx="4160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6 questions a desk asks daily — value, VaR, drivers, P&amp;L, stress, limits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Built end-to-end, not one calculation shown in isolation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Grounded in real BA discipline: requirements → data model → controls →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Why build the whole stack instead of just the risk math?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02 / 08  —  ARCHITECTURE &amp;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One pipeline, one database, three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A batch EOD pipeline computes everything in dependency order, persists to Postgres, and three personas read the same numbers through role-specific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148840" cy="502920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E7EBF0"/>
                </a:solidFill>
                <a:latin typeface="Consolas"/>
              </a:rPr>
              <a:t>Yahoo Finance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286000"/>
            <a:ext cx="2148840" cy="502920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E7EBF0"/>
                </a:solidFill>
                <a:latin typeface="Consolas"/>
              </a:rPr>
              <a:t>FRED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286000"/>
            <a:ext cx="2148840" cy="502920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E7EBF0"/>
                </a:solidFill>
                <a:latin typeface="Consolas"/>
              </a:rPr>
              <a:t>Synthetic UK/DE +
realized-vol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6949440" cy="777240"/>
          </a:xfrm>
          <a:prstGeom prst="roundRect">
            <a:avLst/>
          </a:prstGeom>
          <a:solidFill>
            <a:srgbClr val="275550"/>
          </a:solidFill>
          <a:ln>
            <a:solidFill>
              <a:srgbClr val="4F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Sens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59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VaR/ES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P&amp;L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4999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3192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Ctrl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D97A5"/>
                </a:solidFill>
                <a:latin typeface="Consolas"/>
              </a:rPr>
              <a:t>EOD PIPELINE — ORDER MATTERS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2148840" cy="502920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7EBF0"/>
                </a:solidFill>
                <a:latin typeface="Consolas"/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4343400"/>
            <a:ext cx="2148840" cy="502920"/>
          </a:xfrm>
          <a:prstGeom prst="roundRect">
            <a:avLst/>
          </a:prstGeom>
          <a:solidFill>
            <a:srgbClr val="161D27"/>
          </a:solidFill>
          <a:ln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7EBF0"/>
                </a:solidFill>
                <a:latin typeface="Consolas"/>
              </a:rPr>
              <a:t>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343400"/>
            <a:ext cx="2148840" cy="502920"/>
          </a:xfrm>
          <a:prstGeom prst="roundRect">
            <a:avLst/>
          </a:prstGeom>
          <a:solidFill>
            <a:srgbClr val="275550"/>
          </a:solidFill>
          <a:ln>
            <a:solidFill>
              <a:srgbClr val="4F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7EBF0"/>
                </a:solidFill>
                <a:latin typeface="Consola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8D97A5"/>
                </a:solidFill>
                <a:latin typeface="Calibri"/>
              </a:rPr>
              <a:t>Validation runs FIRST (bad positions poison every number).
Reconciliation runs LAST — needs valuation/attribution to exist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2860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Senior Risk Manager — Executive Dashboard, limit status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Market Risk Analyst — Risk Explorer, P&amp;L &amp; Stress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BA / Controls — Data Quality, breach investigation,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What happens if a pipeline stage fails?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03 / 08  —  PORTFOLIO &amp; RISK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Engineered concentration, not a random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40 positions, 5 asset classes, 34 risk factors — with a single issuer deliberately concentrated across two desks to drive everything that happens later in this deck.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286000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286000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40 positions across Equity, Equity Option, Govt Bond, Corp Bond, FX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34 risk factors — real Yahoo/FRED data + honestly-labeled proxies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$41.7M JPMorgan Chase exposure, engineered across 2 desks, 3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Why hand-craft the portfolio instead of randomizing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04 / 08  —  VaR, ES &amp; SENSITIVITIES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Full revaluation earns its keep at the 99%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472 real historical scenarios, repriced in full — not a delta shortcut. Historical and Parametric VaR agree at 95%, then diverge sharply at 99%.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286000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286000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Order-statistic method on 472 usable historical scenario dates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Historical / Parametric diverge at 99% — the fat-tail signature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Sensitivities show only what applies per asset class — no fabricated DV01 on a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Why does Historical vs. Parametric VaR diverge more at 99% than 95%?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05 / 08  —  P&amp;L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Every dollar of P&amp;L is named — including what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Actual P&amp;L decomposed into Delta, Gamma, Vega, Rates, Credit and FX, with the leftover honestly reported as residual rather than hidden.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286000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2286000"/>
            <a:ext cx="39776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Explained = Module 5 sensitivities × same-day actual market moves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Sign convention: Delta/Vega direct, DV01/CS01 flipped — a real bug source if missed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Worst day: only 26% explained — a large, non-parallel curve move; bond convexity isn't modeled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Isn't a 26% explained rate a problem?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06 / 08  —  STRESS + BREACH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A predicted loss, then a defensible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Direction predicted before running each scenario. The engineered issuer concentration then triggers a real limit breach — investigated, not just flagged.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286000"/>
          <a:ext cx="5394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72200" y="228600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2377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D97A5"/>
                </a:solidFill>
                <a:latin typeface="Consolas"/>
              </a:rPr>
              <a:t>BREACH INVESTIGATION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D97A5"/>
                </a:solidFill>
                <a:latin typeface="Consolas"/>
              </a:rPr>
              <a:t>Issuer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E0584F"/>
                </a:solidFill>
                <a:latin typeface="Consolas"/>
              </a:rPr>
              <a:t>RED · 119.3%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127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D97A5"/>
                </a:solidFill>
                <a:latin typeface="Consolas"/>
              </a:rPr>
              <a:t>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4CAF6D"/>
                </a:solidFill>
                <a:latin typeface="Consolas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511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D97A5"/>
                </a:solidFill>
                <a:latin typeface="Consolas"/>
              </a:rPr>
              <a:t>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511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4CAF6D"/>
                </a:solidFill>
                <a:latin typeface="Consolas"/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D97A5"/>
                </a:solidFill>
                <a:latin typeface="Consolas"/>
              </a:rPr>
              <a:t>Exposure Δ day/day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895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E7EBF0"/>
                </a:solidFill>
                <a:latin typeface="Consolas"/>
              </a:rPr>
              <a:t>+0.22%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D97A5"/>
                </a:solidFill>
                <a:latin typeface="Consolas"/>
              </a:rPr>
              <a:t>JPM spread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79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4CAF6D"/>
                </a:solidFill>
                <a:latin typeface="Consolas"/>
              </a:rPr>
              <a:t>-1.0 bp (tighter)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92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7EBF0"/>
                </a:solidFill>
                <a:latin typeface="Calibri"/>
              </a:rPr>
              <a:t>Conclusion: STRUCTURAL concentration — position sizing, not a data issue or market spike.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How did you confirm the breach wasn't caused by bad data?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07 / 08  —  CONTROLS + BA / UAT /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Numbers backed by tests, or honestly flagged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Every figure is backed by a control, a test, or a documented gap — not by trust alone. The gap analysis is itself a deliverable.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6949440" cy="196596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774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D97A5"/>
                </a:solidFill>
                <a:latin typeface="Consolas"/>
              </a:rPr>
              <a:t>9 DATA QUALITY CONTROLS — REAL PORTFOLIO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7523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Duplicate Positions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27523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670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Missing Required Fields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27523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2670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Invalid Mapping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2095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Missing Market Data</a:t>
            </a:r>
          </a:p>
        </p:txBody>
      </p:sp>
      <p:sp>
        <p:nvSpPr>
          <p:cNvPr id="15" name="Oval 14"/>
          <p:cNvSpPr/>
          <p:nvPr/>
        </p:nvSpPr>
        <p:spPr>
          <a:xfrm>
            <a:off x="2971800" y="32095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31272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Stale Market Data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32095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1272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Outlier Values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6667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584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Position Count Recon</a:t>
            </a:r>
          </a:p>
        </p:txBody>
      </p:sp>
      <p:sp>
        <p:nvSpPr>
          <p:cNvPr id="21" name="Oval 20"/>
          <p:cNvSpPr/>
          <p:nvPr/>
        </p:nvSpPr>
        <p:spPr>
          <a:xfrm>
            <a:off x="2971800" y="36667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3584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Market Value Recon</a:t>
            </a:r>
          </a:p>
        </p:txBody>
      </p:sp>
      <p:sp>
        <p:nvSpPr>
          <p:cNvPr id="23" name="Oval 22"/>
          <p:cNvSpPr/>
          <p:nvPr/>
        </p:nvSpPr>
        <p:spPr>
          <a:xfrm>
            <a:off x="5257800" y="3666744"/>
            <a:ext cx="91440" cy="91440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3584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P&amp;L Recon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6949440" cy="150876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526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D97A5"/>
                </a:solidFill>
                <a:latin typeface="Consolas"/>
              </a:rPr>
              <a:t>TRACEABILITY EXCERPT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D97A5"/>
                </a:solidFill>
                <a:latin typeface="Consolas"/>
              </a:rPr>
              <a:t>BR-05 → FR-06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risk_limits.py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846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CAF6D"/>
                </a:solidFill>
                <a:latin typeface="Consolas"/>
              </a:rPr>
              <a:t>TESTED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D97A5"/>
                </a:solidFill>
                <a:latin typeface="Consolas"/>
              </a:rPr>
              <a:t>BR-07 → FR-08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breach_investigation.py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5175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0584F"/>
                </a:solidFill>
                <a:latin typeface="Consolas"/>
              </a:rPr>
              <a:t>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04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D97A5"/>
                </a:solidFill>
                <a:latin typeface="Consolas"/>
              </a:rPr>
              <a:t>BR-08 → FR-09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504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7EBF0"/>
                </a:solidFill>
                <a:latin typeface="Consolas"/>
              </a:rPr>
              <a:t>frtb_mapping.py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5046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E0584F"/>
                </a:solidFill>
                <a:latin typeface="Consolas"/>
              </a:rPr>
              <a:t>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86000"/>
            <a:ext cx="39776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40 pytest tests — found &amp; fixed a real floating-point bug in VaR ranking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Controls demonstrated catching injected bad data, not just passing on clean data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API, breach workflow, FRTB explorer have no automated tests — flagged, not hidden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What's the biggest gap in this project's test coverage?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FB3"/>
                </a:solidFill>
                <a:latin typeface="Consolas"/>
              </a:rPr>
              <a:t>08 / 08  —  KEY LESSONS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7EBF0"/>
                </a:solidFill>
                <a:latin typeface="Georgia"/>
              </a:rPr>
              <a:t>Every simplification was a decision, not an accident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D97A5"/>
                </a:solidFill>
                <a:latin typeface="Calibri"/>
              </a:rPr>
              <a:t>Nothing here is presented as production-grade or regulatory. Each shortcut is named, so the next step is obvious rather than hidden.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CAF6D"/>
                </a:solidFill>
                <a:latin typeface="Consolas"/>
              </a:rPr>
              <a:t>WHAT'S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Yahoo Finance / FRED market data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Full revaluation, not a delta shortcut, for VaR and stress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Working Postgres + FastAPI + dashboard, end to end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40 passing tests, one real bug found and 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83E"/>
                </a:solidFill>
                <a:latin typeface="Consolas"/>
              </a:rPr>
              <a:t>WHAT'S SIMPLIFIED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No bond convexity; DV01 = CS01 per bond by construction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No authentication — by design choice, not oversight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Illustrative stress scenarios and limits, not calibrated to history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E7EBF0"/>
                </a:solidFill>
                <a:latin typeface="Calibri"/>
              </a:rPr>
              <a:t>•  FRTB mapping is educational only — no capital number, anywhere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D97A5"/>
                </a:solidFill>
                <a:latin typeface="Calibri"/>
              </a:rPr>
              <a:t>LIKELY Q:  What would you build next if you had another week?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